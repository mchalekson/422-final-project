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gmtOERJZdCNgUpfgtruk5iQ1d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Oswald-bold.fntdata"/><Relationship Id="rId23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jp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6.jp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5.jp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6.jpg"/><Relationship Id="rId4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jpg"/><Relationship Id="rId4" Type="http://schemas.openxmlformats.org/officeDocument/2006/relationships/image" Target="../media/image27.png"/><Relationship Id="rId5" Type="http://schemas.openxmlformats.org/officeDocument/2006/relationships/image" Target="../media/image8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jp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2.png"/><Relationship Id="rId13" Type="http://schemas.openxmlformats.org/officeDocument/2006/relationships/image" Target="../media/image49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jpg"/><Relationship Id="rId4" Type="http://schemas.openxmlformats.org/officeDocument/2006/relationships/image" Target="../media/image41.png"/><Relationship Id="rId9" Type="http://schemas.openxmlformats.org/officeDocument/2006/relationships/image" Target="../media/image45.png"/><Relationship Id="rId5" Type="http://schemas.openxmlformats.org/officeDocument/2006/relationships/image" Target="../media/image33.png"/><Relationship Id="rId6" Type="http://schemas.openxmlformats.org/officeDocument/2006/relationships/image" Target="../media/image39.png"/><Relationship Id="rId7" Type="http://schemas.openxmlformats.org/officeDocument/2006/relationships/image" Target="../media/image37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jpg"/><Relationship Id="rId4" Type="http://schemas.openxmlformats.org/officeDocument/2006/relationships/image" Target="../media/image54.png"/><Relationship Id="rId5" Type="http://schemas.openxmlformats.org/officeDocument/2006/relationships/image" Target="../media/image8.png"/><Relationship Id="rId6" Type="http://schemas.openxmlformats.org/officeDocument/2006/relationships/image" Target="../media/image59.png"/><Relationship Id="rId7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0.jpg"/><Relationship Id="rId4" Type="http://schemas.openxmlformats.org/officeDocument/2006/relationships/image" Target="../media/image58.png"/><Relationship Id="rId5" Type="http://schemas.openxmlformats.org/officeDocument/2006/relationships/image" Target="../media/image77.png"/><Relationship Id="rId6" Type="http://schemas.openxmlformats.org/officeDocument/2006/relationships/image" Target="../media/image60.png"/><Relationship Id="rId7" Type="http://schemas.openxmlformats.org/officeDocument/2006/relationships/image" Target="../media/image6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2.png"/><Relationship Id="rId1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3.jpg"/><Relationship Id="rId4" Type="http://schemas.openxmlformats.org/officeDocument/2006/relationships/image" Target="../media/image62.png"/><Relationship Id="rId9" Type="http://schemas.openxmlformats.org/officeDocument/2006/relationships/image" Target="../media/image72.png"/><Relationship Id="rId5" Type="http://schemas.openxmlformats.org/officeDocument/2006/relationships/image" Target="../media/image8.png"/><Relationship Id="rId6" Type="http://schemas.openxmlformats.org/officeDocument/2006/relationships/image" Target="../media/image67.png"/><Relationship Id="rId7" Type="http://schemas.openxmlformats.org/officeDocument/2006/relationships/image" Target="../media/image73.png"/><Relationship Id="rId8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jpg"/><Relationship Id="rId4" Type="http://schemas.openxmlformats.org/officeDocument/2006/relationships/image" Target="../media/image74.png"/><Relationship Id="rId9" Type="http://schemas.openxmlformats.org/officeDocument/2006/relationships/image" Target="../media/image81.png"/><Relationship Id="rId5" Type="http://schemas.openxmlformats.org/officeDocument/2006/relationships/image" Target="../media/image60.png"/><Relationship Id="rId6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8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jpg"/><Relationship Id="rId4" Type="http://schemas.openxmlformats.org/officeDocument/2006/relationships/image" Target="../media/image90.png"/><Relationship Id="rId5" Type="http://schemas.openxmlformats.org/officeDocument/2006/relationships/image" Target="../media/image8.png"/><Relationship Id="rId6" Type="http://schemas.openxmlformats.org/officeDocument/2006/relationships/image" Target="../media/image9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jpg"/><Relationship Id="rId4" Type="http://schemas.openxmlformats.org/officeDocument/2006/relationships/image" Target="../media/image104.png"/><Relationship Id="rId5" Type="http://schemas.openxmlformats.org/officeDocument/2006/relationships/image" Target="../media/image39.png"/><Relationship Id="rId6" Type="http://schemas.openxmlformats.org/officeDocument/2006/relationships/image" Target="../media/image99.png"/><Relationship Id="rId7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0531" y="382274"/>
            <a:ext cx="64293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357313" y="1327956"/>
            <a:ext cx="6429375" cy="2011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Oswald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PREDICTING YOUTUBE VIDEO VIRALITY USING CONTENT, CREATOR, AND ENGAGEMENT ATTRIBUTES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078831" y="3482467"/>
            <a:ext cx="4986338" cy="371475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078831" y="3482467"/>
            <a:ext cx="498633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102100" lIns="272150" spcFirstLastPara="1" rIns="272150" wrap="square" tIns="102100">
            <a:sp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Roboto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end-to-end ML pipeline for actionable virality prediction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57313" y="4432585"/>
            <a:ext cx="3128963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COURSE &amp; TERM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57313" y="4623681"/>
            <a:ext cx="3128963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MSDS_420 &amp; Team 3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57725" y="4432585"/>
            <a:ext cx="3128963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TEAM 3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657725" y="4623681"/>
            <a:ext cx="3128963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Max Chalekson | Selin Altiparmak | Yedong Deng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" name="Google Shape;3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PROBLEM STATEMENT &amp; RESEARCH QUESTIONS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2585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678656" y="1649062"/>
            <a:ext cx="1571625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BUSINESS CONTEXT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28625" y="2159840"/>
            <a:ext cx="4000500" cy="250031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41701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800100" y="2374153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Problem: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Identifying viral potential early enough to optimize promotion and content strategy.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99565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800100" y="2952797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Unit of Analysis: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Individual YouTube videos (one video per row).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3574303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800100" y="3531440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Target Variable: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log1p(view_count) to stabilize extreme variance.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172585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4964906" y="1649062"/>
            <a:ext cx="1828800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RESEARCH QUESTIONS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714875" y="2159840"/>
            <a:ext cx="4000500" cy="251102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241701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5086350" y="2374153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Which features (creator vs. content) best predict video views?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299565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5086350" y="2952797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Are creator-level features more influential than content-level features?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3574303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5086350" y="3531440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Which model class performs best on this tabular dataset?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929188" y="4217240"/>
            <a:ext cx="357187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005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1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Leakage Policy:</a:t>
            </a:r>
            <a:r>
              <a:rPr b="0" i="1" lang="en-US" sz="942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 No post-upload engagement (likes/comments) used for prediction.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LITERATURE REVIEW: STRUCTURAL DRIVERS OF VIRALITY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575839"/>
            <a:ext cx="19645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732234" y="1506187"/>
            <a:ext cx="2125266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CREATOR SOCIAL CAPITAL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28625" y="1981247"/>
            <a:ext cx="3571875" cy="28575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238422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800100" y="2195559"/>
            <a:ext cx="29860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Subscriber Base: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Strongly predicts views, likes, and comments (Hussain et al. 2024).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81706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800100" y="2774203"/>
            <a:ext cx="298608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Exposure Networks: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Larger channels benefit from accumulated audience reach, amplifying initial visibility.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3595734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800100" y="3552872"/>
            <a:ext cx="298608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Platform Inequality: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YouTube follows a "winner-take-most" distribution where top creators capture disproportionate attention.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071938" y="1506187"/>
            <a:ext cx="4714875" cy="3000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5" y="1814094"/>
            <a:ext cx="4572000" cy="238453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4143375" y="4578000"/>
            <a:ext cx="457200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1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Figure 1: Hexbin density plot showing the strong positive correlation between creator size (subscribers) and video views.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41739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0" y="0"/>
            <a:ext cx="9144000" cy="175621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727643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28625" y="570356"/>
            <a:ext cx="8715375" cy="1014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LITERATURE REVIEW: VISUAL ATTENTION &amp; PLATFORM DYNAMICS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083045"/>
            <a:ext cx="176808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712589" y="2013393"/>
            <a:ext cx="2496741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VISUAL &amp; NONLINEAR DRIVERS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8625" y="2488453"/>
            <a:ext cx="3571875" cy="28575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270276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757238" y="2659903"/>
            <a:ext cx="307181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Thumbnail Salience: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Brightness and colorfulness act as heuristics for content quality, influencing click-through (Koh &amp; Cui 2022).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344571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757238" y="3402853"/>
            <a:ext cx="307181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Nonlinear Dynamics: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Virality emerges from complex interactions, not linear additive effects (Peng &amp; Bainbridge 2026).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075" y="418866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757238" y="4145803"/>
            <a:ext cx="307181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Duration Myth: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No consistent linear relationship between video length and engagement (Konukoğlu &amp; Özman 2025).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071938" y="2013393"/>
            <a:ext cx="4714875" cy="3000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43375" y="2712588"/>
            <a:ext cx="4572000" cy="160198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4143375" y="5120925"/>
            <a:ext cx="457200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1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Figure 2: Higher quality tiers (1080p+) correlate with significantly higher mean views, supporting the visual quality hypothesis.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0" y="0"/>
            <a:ext cx="9144000" cy="121329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0" y="1184718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EXPLORATORY DATA ANALYSIS: CATEGORY &amp; DISTRIBUTION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85750" y="1327593"/>
            <a:ext cx="5686500" cy="15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285750" y="1170431"/>
            <a:ext cx="1319808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Oswald"/>
              <a:buNone/>
            </a:pPr>
            <a:r>
              <a:rPr b="0" i="0" lang="en-US" sz="942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CATEGORY DISTRIBUTION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2304" y="1384743"/>
            <a:ext cx="1273290" cy="1457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6115050" y="1434750"/>
            <a:ext cx="2743200" cy="778669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115050" y="1434750"/>
            <a:ext cx="28575" cy="778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0775" y="1683888"/>
            <a:ext cx="14466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6431161" y="1596377"/>
            <a:ext cx="664369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Dominant Categories: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152680" y="1520475"/>
            <a:ext cx="1562695" cy="455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People &amp; Blogs, Music, and Entertainment account for &gt;50% of the dataset.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115050" y="2147339"/>
            <a:ext cx="2743200" cy="62686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115050" y="2147339"/>
            <a:ext cx="28575" cy="626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0775" y="2396477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447234" y="2308966"/>
            <a:ext cx="428625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Creator Size: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933009" y="2233064"/>
            <a:ext cx="1782366" cy="455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News &amp; Politics channels have the highest median subscriber count.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85750" y="3113531"/>
            <a:ext cx="8572500" cy="1400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285750" y="2956368"/>
            <a:ext cx="2528888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Oswald"/>
              <a:buNone/>
            </a:pPr>
            <a:r>
              <a:rPr b="0" i="0" lang="en-US" sz="942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VIEWS DISTRIBUTION BY CATEGORY (LOG-SCALE)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48316" y="3170681"/>
            <a:ext cx="3047340" cy="1285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EXPLORATORY DATA ANALYSIS: CORRELATION &amp; FEATURES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575839"/>
            <a:ext cx="176808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712589" y="1506187"/>
            <a:ext cx="2071688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STRUCTURAL HIERARCHY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28625" y="1931240"/>
            <a:ext cx="3214688" cy="250031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16978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728663" y="2074115"/>
            <a:ext cx="27717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Channel Dominance: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Subscriber count and historical views show stronger correlation with video views than content features.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2420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28663" y="2781347"/>
            <a:ext cx="27717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Engagement Clustering: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Views, likes, and comments are highly collinear, validating the use of views as the primary target.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31440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728663" y="3488578"/>
            <a:ext cx="27717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Weak Content Signal: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Duration and frame rate show negligible linear correlation with performance.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43313" y="1506187"/>
            <a:ext cx="5143500" cy="3000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7540" y="1577625"/>
            <a:ext cx="3135018" cy="285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3714750" y="4563712"/>
            <a:ext cx="5000625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1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Figure 3: Correlation matrix highlighting the strong relationship between channel-level variables and engagement metrics.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0" y="0"/>
            <a:ext cx="9144000" cy="102233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0" y="993763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57188" y="463339"/>
            <a:ext cx="8786813" cy="444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Oswald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EDA: ENGAGEMENT PATTERNS &amp; DISTRIBUTION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140209"/>
            <a:ext cx="10715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435769" y="1108063"/>
            <a:ext cx="2327077" cy="148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27"/>
              <a:buFont typeface="Oswald"/>
              <a:buNone/>
            </a:pPr>
            <a:r>
              <a:rPr b="0" i="0" lang="en-US" sz="727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LOG-TRANSFORMED ENGAGEMENT DISTRIBUTIONS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85750" y="1299158"/>
            <a:ext cx="5943600" cy="1228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050" y="1399170"/>
            <a:ext cx="5715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6343650" y="1108063"/>
            <a:ext cx="2514600" cy="71250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343650" y="1108063"/>
            <a:ext cx="21431" cy="712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415088" y="1165213"/>
            <a:ext cx="2371725" cy="134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34"/>
              <a:buFont typeface="Roboto"/>
              <a:buNone/>
            </a:pP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RIGHT-SKEWED DISTRIBUTIONS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415088" y="1340932"/>
            <a:ext cx="213419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After log1p transformation, views approximate a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15088" y="1485928"/>
            <a:ext cx="2078831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normal distribution (peak ~5.0), while likes and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415088" y="1630924"/>
            <a:ext cx="2246709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comments remain right-skewed with zero-inflation.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343650" y="1877718"/>
            <a:ext cx="2514600" cy="71250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343650" y="1877718"/>
            <a:ext cx="21431" cy="712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415088" y="1934868"/>
            <a:ext cx="2371725" cy="134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50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34"/>
              <a:buFont typeface="Roboto"/>
              <a:buNone/>
            </a:pP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IMPLICATION</a:t>
            </a:r>
            <a:endParaRPr b="0" i="0" sz="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415088" y="2110587"/>
            <a:ext cx="2291358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skewness justifies using log-transformed views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15088" y="2255583"/>
            <a:ext cx="2193131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 the regression target, reducing the influence of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15088" y="2400579"/>
            <a:ext cx="1371600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viral outliers on model training.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" y="2708095"/>
            <a:ext cx="132159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460772" y="2675948"/>
            <a:ext cx="1391245" cy="148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27"/>
              <a:buFont typeface="Oswald"/>
              <a:buNone/>
            </a:pPr>
            <a:r>
              <a:rPr b="0" i="0" lang="en-US" sz="727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LIKE RATE VS COMMENT RATE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85750" y="2867044"/>
            <a:ext cx="2800350" cy="20145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5763" y="2967056"/>
            <a:ext cx="2600325" cy="1814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00400" y="2708095"/>
            <a:ext cx="10715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3350419" y="2675948"/>
            <a:ext cx="2030611" cy="148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27"/>
              <a:buFont typeface="Oswald"/>
              <a:buNone/>
            </a:pPr>
            <a:r>
              <a:rPr b="0" i="0" lang="en-US" sz="727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ENGAGEMENT RATES &amp; VIEWS BY CATEGORY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200400" y="2924194"/>
            <a:ext cx="5657850" cy="19002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43263" y="2967056"/>
            <a:ext cx="5572125" cy="1814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9" name="Google Shape;1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0" y="0"/>
            <a:ext cx="9144000" cy="121329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0" y="1184718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FEATURE ENGINEERING &amp; PREPROCESSING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28625" y="1470468"/>
            <a:ext cx="2619356" cy="15716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9" y="1686567"/>
            <a:ext cx="137517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830461" y="1649062"/>
            <a:ext cx="1251942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59"/>
              <a:buFont typeface="Oswald"/>
              <a:buNone/>
            </a:pPr>
            <a:r>
              <a:rPr b="0" i="0" lang="en-US" sz="115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CREATOR FEATURES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9" y="2052684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714375" y="2024109"/>
            <a:ext cx="914400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Subscriber count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219" y="2296269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714375" y="2267694"/>
            <a:ext cx="1067991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channel views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219" y="2539854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714375" y="2511279"/>
            <a:ext cx="1421606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Historical avg views/video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262294" y="1470468"/>
            <a:ext cx="2619384" cy="15716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40888" y="1686567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3683775" y="1649062"/>
            <a:ext cx="1346597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59"/>
              <a:buFont typeface="Oswald"/>
              <a:buNone/>
            </a:pPr>
            <a:r>
              <a:rPr b="0" i="0" lang="en-US" sz="115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TEMPORAL FEATURES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40888" y="2052684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3548044" y="2024109"/>
            <a:ext cx="1623417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Video age (days since upload)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40888" y="2296269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3548044" y="2267694"/>
            <a:ext cx="1698427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Channel age (account maturity)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40888" y="2539854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3548044" y="2511279"/>
            <a:ext cx="1385888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Upload frequency metrics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095991" y="1470468"/>
            <a:ext cx="2619356" cy="15716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" name="Google Shape;20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74584" y="1686567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6517472" y="1649062"/>
            <a:ext cx="1157288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59"/>
              <a:buFont typeface="Oswald"/>
              <a:buNone/>
            </a:pPr>
            <a:r>
              <a:rPr b="0" i="0" lang="en-US" sz="115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CONTENT PROXIES</a:t>
            </a:r>
            <a:endParaRPr b="0" i="0" sz="11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74584" y="2052684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6381741" y="2024109"/>
            <a:ext cx="1344811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Title &amp; description length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74584" y="2296269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6381741" y="2267694"/>
            <a:ext cx="1175147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Thumbnail brightness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74584" y="2539854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6381741" y="2511279"/>
            <a:ext cx="1276945" cy="157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Roboto"/>
              <a:buNone/>
            </a:pPr>
            <a:r>
              <a:rPr b="0" i="0" lang="en-US" sz="88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Thumbnail colorfulness</a:t>
            </a:r>
            <a:endParaRPr b="0" i="0" sz="8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28625" y="3327843"/>
            <a:ext cx="8286750" cy="119122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28625" y="3327843"/>
            <a:ext cx="8286750" cy="714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28625" y="3542156"/>
            <a:ext cx="8286750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69"/>
              <a:buFont typeface="Oswald"/>
              <a:buNone/>
            </a:pPr>
            <a:r>
              <a:rPr b="0" i="0" lang="en-US" sz="1269" u="none" cap="none" strike="noStrike">
                <a:solidFill>
                  <a:srgbClr val="AAAAAA"/>
                </a:solidFill>
                <a:latin typeface="Oswald"/>
                <a:ea typeface="Oswald"/>
                <a:cs typeface="Oswald"/>
                <a:sym typeface="Oswald"/>
              </a:rPr>
              <a:t>PREPROCESSING PIPELINE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28625" y="3940420"/>
            <a:ext cx="1857375" cy="571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71500" y="4127050"/>
            <a:ext cx="15716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Imputation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71500" y="4314574"/>
            <a:ext cx="15716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Median (Numeric) / Mode (Cat)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75297" y="4135087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2571750" y="3940420"/>
            <a:ext cx="1857375" cy="571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2714625" y="4127050"/>
            <a:ext cx="15716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Encoding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2714625" y="4314574"/>
            <a:ext cx="15716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One-Hot for Categories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18422" y="4135087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4714875" y="3940420"/>
            <a:ext cx="1857375" cy="571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857750" y="4127050"/>
            <a:ext cx="15716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Scaling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857750" y="4314574"/>
            <a:ext cx="15716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StandardScaler for NN/KNN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61547" y="4135087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6858000" y="3940420"/>
            <a:ext cx="1857375" cy="571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000875" y="4127050"/>
            <a:ext cx="1571625" cy="151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Leakage Check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000875" y="4314574"/>
            <a:ext cx="1571625" cy="117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Strict Feature Isolation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METHODOLOGY &amp; EXPERIMENTAL SETUP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47276"/>
            <a:ext cx="137517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673298" y="1577625"/>
            <a:ext cx="1852017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EXPERIMENTAL DESIGN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28625" y="2052684"/>
            <a:ext cx="4000500" cy="27146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30985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800100" y="2266997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Data Split: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80% Training / 20% Testing with a fixed random seed for reproducibility.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867072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800100" y="2824209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Hyperparameter Tuning: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5-fold GridSearchCV applied to the Random Forest model.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3424284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800100" y="3381422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Selection Criterion: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Best generalization on test RMSE + model interpretability.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1647276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4979194" y="1577625"/>
            <a:ext cx="1589484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MODEL EVALUATION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714875" y="2052684"/>
            <a:ext cx="4000500" cy="27146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230985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5086350" y="2283070"/>
            <a:ext cx="1176933" cy="167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10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Models Evaluated: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143500" y="2624184"/>
            <a:ext cx="692944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Elastic Net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907881" y="2624184"/>
            <a:ext cx="625078" cy="19715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5907881" y="2624184"/>
            <a:ext cx="625078" cy="197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102100" spcFirstLastPara="1" rIns="102100" wrap="square" tIns="34025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BASELINE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143500" y="2892772"/>
            <a:ext cx="335756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KNN Regressor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143500" y="3144227"/>
            <a:ext cx="3357563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Random Forest Regressor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143500" y="3395681"/>
            <a:ext cx="944761" cy="180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MLP Regressor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159698" y="3395681"/>
            <a:ext cx="760809" cy="19715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6159698" y="3395681"/>
            <a:ext cx="760809" cy="197151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102100" spcFirstLastPara="1" rIns="102100" wrap="square" tIns="34025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NEURAL NET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29188" y="377856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/>
          <p:nvPr/>
        </p:nvSpPr>
        <p:spPr>
          <a:xfrm>
            <a:off x="5086350" y="3735707"/>
            <a:ext cx="34147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Performance Metrics: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RMSE, MAE, and R² (calculated on log-transformed views).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Google Shape;2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0"/>
          <p:cNvSpPr/>
          <p:nvPr/>
        </p:nvSpPr>
        <p:spPr>
          <a:xfrm>
            <a:off x="0" y="0"/>
            <a:ext cx="9144000" cy="121329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0" y="1184718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FINDINGS &amp; MODEL COMPARISON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0530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/>
          <p:nvPr/>
        </p:nvSpPr>
        <p:spPr>
          <a:xfrm>
            <a:off x="642938" y="1541906"/>
            <a:ext cx="1701998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69"/>
              <a:buFont typeface="Oswald"/>
              <a:buNone/>
            </a:pPr>
            <a:r>
              <a:rPr b="0" i="0" lang="en-US" sz="126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PERFORMANCE METRICS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28625" y="1975889"/>
            <a:ext cx="4643438" cy="191988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428625" y="1975889"/>
            <a:ext cx="2279079" cy="4125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28625" y="2374153"/>
            <a:ext cx="2279079" cy="14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428625" y="1975889"/>
            <a:ext cx="2279079" cy="412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85"/>
              <a:buFont typeface="Oswald"/>
              <a:buNone/>
            </a:pPr>
            <a:r>
              <a:rPr b="1" i="0" lang="en-US" sz="885" u="none" cap="none" strike="noStrike">
                <a:solidFill>
                  <a:srgbClr val="AAAAAA"/>
                </a:solidFill>
                <a:latin typeface="Oswald"/>
                <a:ea typeface="Oswald"/>
                <a:cs typeface="Oswald"/>
                <a:sym typeface="Oswald"/>
              </a:rPr>
              <a:t>MODEL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2707704" y="1975889"/>
            <a:ext cx="788101" cy="4125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2707704" y="2374153"/>
            <a:ext cx="788101" cy="14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2707704" y="1975889"/>
            <a:ext cx="788101" cy="412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85"/>
              <a:buFont typeface="Oswald"/>
              <a:buNone/>
            </a:pPr>
            <a:r>
              <a:rPr b="1" i="0" lang="en-US" sz="885" u="none" cap="none" strike="noStrike">
                <a:solidFill>
                  <a:srgbClr val="AAAAAA"/>
                </a:solidFill>
                <a:latin typeface="Oswald"/>
                <a:ea typeface="Oswald"/>
                <a:cs typeface="Oswald"/>
                <a:sym typeface="Oswald"/>
              </a:rPr>
              <a:t>RMSE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495805" y="1975889"/>
            <a:ext cx="788101" cy="4125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3495805" y="2374153"/>
            <a:ext cx="788101" cy="14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3495805" y="1975889"/>
            <a:ext cx="788101" cy="412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85"/>
              <a:buFont typeface="Oswald"/>
              <a:buNone/>
            </a:pPr>
            <a:r>
              <a:rPr b="1" i="0" lang="en-US" sz="885" u="none" cap="none" strike="noStrike">
                <a:solidFill>
                  <a:srgbClr val="AAAAAA"/>
                </a:solidFill>
                <a:latin typeface="Oswald"/>
                <a:ea typeface="Oswald"/>
                <a:cs typeface="Oswald"/>
                <a:sym typeface="Oswald"/>
              </a:rPr>
              <a:t>MAE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283906" y="1975889"/>
            <a:ext cx="788157" cy="4125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283906" y="2374153"/>
            <a:ext cx="788157" cy="14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4283906" y="1975889"/>
            <a:ext cx="788157" cy="412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85"/>
              <a:buFont typeface="Oswald"/>
              <a:buNone/>
            </a:pPr>
            <a:r>
              <a:rPr b="1" i="0" lang="en-US" sz="885" u="none" cap="none" strike="noStrike">
                <a:solidFill>
                  <a:srgbClr val="AAAAAA"/>
                </a:solidFill>
                <a:latin typeface="Oswald"/>
                <a:ea typeface="Oswald"/>
                <a:cs typeface="Oswald"/>
                <a:sym typeface="Oswald"/>
              </a:rPr>
              <a:t>R²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28625" y="2381297"/>
            <a:ext cx="2279079" cy="36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Elastic Net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2707704" y="2381297"/>
            <a:ext cx="788101" cy="36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1.852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495805" y="2381297"/>
            <a:ext cx="788101" cy="36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1.420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283906" y="2381297"/>
            <a:ext cx="788157" cy="369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0.451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28625" y="2750986"/>
            <a:ext cx="2279079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KNN Regressor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2707704" y="2750986"/>
            <a:ext cx="788101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1.710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495805" y="2750986"/>
            <a:ext cx="788101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1.305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283906" y="2750986"/>
            <a:ext cx="788157" cy="373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0.512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28625" y="3124247"/>
            <a:ext cx="4643438" cy="376833"/>
          </a:xfrm>
          <a:prstGeom prst="rect">
            <a:avLst/>
          </a:prstGeom>
          <a:solidFill>
            <a:srgbClr val="FF000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428625" y="3124247"/>
            <a:ext cx="2279079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Random Forest (Tuned)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707704" y="3124247"/>
            <a:ext cx="788101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1.507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3495805" y="3124247"/>
            <a:ext cx="788101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1.120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283906" y="3124247"/>
            <a:ext cx="788157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0.621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28625" y="3501079"/>
            <a:ext cx="2279079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MLP Regressor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2707704" y="3501079"/>
            <a:ext cx="788101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1.685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3495805" y="3501079"/>
            <a:ext cx="788101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1.290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283906" y="3501079"/>
            <a:ext cx="788157" cy="37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0.530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428625" y="4095797"/>
            <a:ext cx="2353866" cy="2768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428625" y="4095797"/>
            <a:ext cx="2353866" cy="276820"/>
          </a:xfrm>
          <a:prstGeom prst="rect">
            <a:avLst/>
          </a:prstGeom>
          <a:noFill/>
          <a:ln>
            <a:noFill/>
          </a:ln>
        </p:spPr>
        <p:txBody>
          <a:bodyPr anchorCtr="0" anchor="t" bIns="85075" lIns="170050" spcFirstLastPara="1" rIns="170050" wrap="square" tIns="85075">
            <a:sp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Roboto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BEST MODEL: TUNED RANDOM FOREST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0688" y="1605307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0"/>
          <p:cNvSpPr/>
          <p:nvPr/>
        </p:nvSpPr>
        <p:spPr>
          <a:xfrm>
            <a:off x="5682853" y="1541906"/>
            <a:ext cx="1555552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69"/>
              <a:buFont typeface="Oswald"/>
              <a:buNone/>
            </a:pPr>
            <a:r>
              <a:rPr b="0" i="0" lang="en-US" sz="126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KEY INTERPRETATIONS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500688" y="1975889"/>
            <a:ext cx="3214688" cy="250031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9281" y="2190201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5807869" y="2154482"/>
            <a:ext cx="2728913" cy="540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Social Capital Dominance: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Creator-level features (subscribers/history) are the strongest predictors.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9281" y="2873127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/>
          <p:nvPr/>
        </p:nvSpPr>
        <p:spPr>
          <a:xfrm>
            <a:off x="5807869" y="2837408"/>
            <a:ext cx="272891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Visual Signal: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Thumbnail variables add secondary but statistically meaningful signal.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9281" y="3376036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5807869" y="3340317"/>
            <a:ext cx="2728913" cy="540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Nonlinear Advantage: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Tree-based models outperform linear ones due to complex feature interactions.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3" name="Google Shape;31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9281" y="4058962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5807869" y="4023243"/>
            <a:ext cx="2728913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Practical, decision-supportive pipeline for early promotion strategy.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LIMITATIONS &amp; TEAM CONTRIBUTIONS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575839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692944" y="1506187"/>
            <a:ext cx="1017984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LIMITATIONS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28625" y="1981247"/>
            <a:ext cx="4000500" cy="28575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9" y="2202703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/>
          <p:nvPr/>
        </p:nvSpPr>
        <p:spPr>
          <a:xfrm>
            <a:off x="764381" y="2159840"/>
            <a:ext cx="348615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Sampling Bias: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Data may reflect specific seasonal trends or temporal anomalies.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219" y="2705612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1"/>
          <p:cNvSpPr/>
          <p:nvPr/>
        </p:nvSpPr>
        <p:spPr>
          <a:xfrm>
            <a:off x="764381" y="2662749"/>
            <a:ext cx="348615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Semantic Depth: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Metadata-focused modeling misses narrative nuance and video content quality.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9" y="3208520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/>
          <p:nvPr/>
        </p:nvSpPr>
        <p:spPr>
          <a:xfrm>
            <a:off x="764381" y="3165658"/>
            <a:ext cx="348615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Predictive Scope: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Analysis identifies correlations, not causal mechanisms.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219" y="3711429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/>
          <p:nvPr/>
        </p:nvSpPr>
        <p:spPr>
          <a:xfrm>
            <a:off x="764381" y="3668567"/>
            <a:ext cx="348615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Data Gaps: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Missingness in enriched fields (e.g., country) affects localized predictions.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1575839"/>
            <a:ext cx="19645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1"/>
          <p:cNvSpPr/>
          <p:nvPr/>
        </p:nvSpPr>
        <p:spPr>
          <a:xfrm>
            <a:off x="5018484" y="1506187"/>
            <a:ext cx="1000125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TEAM ROLES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714875" y="1981247"/>
            <a:ext cx="4000500" cy="28575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93469" y="2204489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5107781" y="2159840"/>
            <a:ext cx="1178719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swald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BUSINESS FRAMING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893469" y="2406300"/>
            <a:ext cx="3643313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Research questions, literature review, and value proposition definition.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3469" y="2842068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/>
          <p:nvPr/>
        </p:nvSpPr>
        <p:spPr>
          <a:xfrm>
            <a:off x="5089922" y="2797420"/>
            <a:ext cx="1393031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swald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EDA &amp; PREPROCESSING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893469" y="3043879"/>
            <a:ext cx="3643313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Data cleaning, visualization, feature engineering, and pipeline design.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93469" y="347964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5107781" y="3435000"/>
            <a:ext cx="1555552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Oswald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MODELING &amp;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893469" y="3681459"/>
            <a:ext cx="3643313" cy="13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34"/>
              <a:buFont typeface="Roboto"/>
              <a:buNone/>
            </a:pPr>
            <a:r>
              <a:rPr b="0" i="0" lang="en-US" sz="83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Model selection, hyperparameter tuning, and deployment strategy.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2" name="Google Shape;3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2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DEPLOYMENT STRATEGY &amp; AUTOMATION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6" name="Google Shape;3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12463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2"/>
          <p:cNvSpPr/>
          <p:nvPr/>
        </p:nvSpPr>
        <p:spPr>
          <a:xfrm>
            <a:off x="675084" y="1649062"/>
            <a:ext cx="1316236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69"/>
              <a:buFont typeface="Oswald"/>
              <a:buNone/>
            </a:pPr>
            <a:r>
              <a:rPr b="0" i="0" lang="en-US" sz="126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AUTOMATION FLOW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428625" y="2047326"/>
            <a:ext cx="2571750" cy="250031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9" y="2261639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735806" y="2225920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End-to-end pipeline from raw data to actionable reporting.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780455" y="2728829"/>
            <a:ext cx="358973" cy="2321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780455" y="2728829"/>
            <a:ext cx="358973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CSV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3" name="Google Shape;3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5147" y="2791337"/>
            <a:ext cx="62508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1273373" y="2728829"/>
            <a:ext cx="326827" cy="2321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1273373" y="2728829"/>
            <a:ext cx="326827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API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35919" y="2791337"/>
            <a:ext cx="62508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1734145" y="2728829"/>
            <a:ext cx="312539" cy="2321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1734145" y="2728829"/>
            <a:ext cx="312539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2403" y="2791337"/>
            <a:ext cx="62508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2180630" y="2728829"/>
            <a:ext cx="467916" cy="2321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2180630" y="2728829"/>
            <a:ext cx="467916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sp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27"/>
              <a:buFont typeface="Roboto"/>
              <a:buNone/>
            </a:pPr>
            <a:r>
              <a:rPr b="0" i="0" lang="en-US" sz="727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Report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9" y="3139594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735806" y="3103876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Optional API enrichment for real-time channel metadata.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4" name="Google Shape;37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6125" y="171246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2"/>
          <p:cNvSpPr/>
          <p:nvPr/>
        </p:nvSpPr>
        <p:spPr>
          <a:xfrm>
            <a:off x="3500438" y="1649062"/>
            <a:ext cx="1555552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69"/>
              <a:buFont typeface="Oswald"/>
              <a:buNone/>
            </a:pPr>
            <a:r>
              <a:rPr b="0" i="0" lang="en-US" sz="126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DEPLOYMENT OPTIONS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286125" y="2047326"/>
            <a:ext cx="2571750" cy="250031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4719" y="2261639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/>
          <p:nvPr/>
        </p:nvSpPr>
        <p:spPr>
          <a:xfrm>
            <a:off x="3593306" y="2225920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Batch Scoring: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Scheduled retraining and inference for portfolio tracking.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9" name="Google Shape;37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64719" y="2764548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2"/>
          <p:cNvSpPr/>
          <p:nvPr/>
        </p:nvSpPr>
        <p:spPr>
          <a:xfrm>
            <a:off x="3593306" y="2728829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Roboto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API Serving:</a:t>
            </a: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On-demand prediction for individual video uploads.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43625" y="171246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2"/>
          <p:cNvSpPr/>
          <p:nvPr/>
        </p:nvSpPr>
        <p:spPr>
          <a:xfrm>
            <a:off x="6357938" y="1649062"/>
            <a:ext cx="1269802" cy="25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69"/>
              <a:buFont typeface="Oswald"/>
              <a:buNone/>
            </a:pPr>
            <a:r>
              <a:rPr b="0" i="0" lang="en-US" sz="1269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REPRODUCIBILITY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143625" y="2047326"/>
            <a:ext cx="2571750" cy="2500313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2219" y="2261639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2"/>
          <p:cNvSpPr/>
          <p:nvPr/>
        </p:nvSpPr>
        <p:spPr>
          <a:xfrm>
            <a:off x="6450806" y="2225920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Fixed random seeds and versioned dependencies.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2219" y="2764548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2"/>
          <p:cNvSpPr/>
          <p:nvPr/>
        </p:nvSpPr>
        <p:spPr>
          <a:xfrm>
            <a:off x="6450806" y="2728829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Environment-based credential management for secure API access.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2219" y="3267456"/>
            <a:ext cx="42863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2"/>
          <p:cNvSpPr/>
          <p:nvPr/>
        </p:nvSpPr>
        <p:spPr>
          <a:xfrm>
            <a:off x="6450806" y="3231738"/>
            <a:ext cx="2085975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Roboto"/>
              <a:buNone/>
            </a:pPr>
            <a:r>
              <a:rPr b="0" i="0" lang="en-US" sz="942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Logged experiment tracking for model auditability.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5" name="Google Shape;3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0" y="0"/>
            <a:ext cx="9144000" cy="124901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0" y="1220437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428625" y="570356"/>
            <a:ext cx="8715375" cy="5072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Oswald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MANAGEMENT RECOMMENDATIONS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504401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3"/>
          <p:cNvSpPr/>
          <p:nvPr/>
        </p:nvSpPr>
        <p:spPr>
          <a:xfrm>
            <a:off x="692944" y="1434750"/>
            <a:ext cx="1639491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STRATEGIC ACTIONS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28625" y="1874090"/>
            <a:ext cx="4000500" cy="21431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59828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/>
          <p:nvPr/>
        </p:nvSpPr>
        <p:spPr>
          <a:xfrm>
            <a:off x="728663" y="2016965"/>
            <a:ext cx="3557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Operationalize Scoring: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Implement early-stage prediction to prioritize promotion budgets.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4" name="Google Shape;40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8846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3"/>
          <p:cNvSpPr/>
          <p:nvPr/>
        </p:nvSpPr>
        <p:spPr>
          <a:xfrm>
            <a:off x="728663" y="2545603"/>
            <a:ext cx="3557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Thumbnail Optimization: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Systematize A/B testing based on brightness and color diversity.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7103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3"/>
          <p:cNvSpPr/>
          <p:nvPr/>
        </p:nvSpPr>
        <p:spPr>
          <a:xfrm>
            <a:off x="728663" y="3074240"/>
            <a:ext cx="3557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Creator Growth: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Prioritize long-term partnerships with creators showing high social capital growth.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8" name="Google Shape;40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1504401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3"/>
          <p:cNvSpPr/>
          <p:nvPr/>
        </p:nvSpPr>
        <p:spPr>
          <a:xfrm>
            <a:off x="4979194" y="1434750"/>
            <a:ext cx="1778794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86"/>
              <a:buFont typeface="Oswald"/>
              <a:buNone/>
            </a:pPr>
            <a:r>
              <a:rPr b="0" i="0" lang="en-US" sz="1486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TECHNICAL ROADMAP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714875" y="1874090"/>
            <a:ext cx="4000500" cy="21431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1" name="Google Shape;41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0" y="2059828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3"/>
          <p:cNvSpPr/>
          <p:nvPr/>
        </p:nvSpPr>
        <p:spPr>
          <a:xfrm>
            <a:off x="5014913" y="2016965"/>
            <a:ext cx="3557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Advanced Modeling: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Evaluate XGBoost, LightGBM, and CatBoost for marginal gains.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0" y="2588465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3"/>
          <p:cNvSpPr/>
          <p:nvPr/>
        </p:nvSpPr>
        <p:spPr>
          <a:xfrm>
            <a:off x="5014913" y="2545603"/>
            <a:ext cx="3557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Contextual Data: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Integrate Google Trends and external social signals.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0" y="3117103"/>
            <a:ext cx="5000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3"/>
          <p:cNvSpPr/>
          <p:nvPr/>
        </p:nvSpPr>
        <p:spPr>
          <a:xfrm>
            <a:off x="5014913" y="3074240"/>
            <a:ext cx="35575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87"/>
              <a:buFont typeface="Roboto"/>
              <a:buNone/>
            </a:pPr>
            <a:r>
              <a:rPr b="1" i="0" lang="en-US" sz="987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Risk Management: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Implement prediction intervals and uncertainty reporting.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428625" y="4160090"/>
            <a:ext cx="8286750" cy="5715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428625" y="4160090"/>
            <a:ext cx="828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5125" spcFirstLastPara="1" rIns="255125" wrap="square" tIns="17005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Roboto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FROM PREDICTIVE INSIGHTS TO ACTIONABLE COMPETITIVE ADVANTAGE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4" name="Google Shape;4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/>
          <p:nvPr/>
        </p:nvSpPr>
        <p:spPr>
          <a:xfrm>
            <a:off x="0" y="0"/>
            <a:ext cx="9144000" cy="102233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0" y="993763"/>
            <a:ext cx="9144000" cy="285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428625" y="463339"/>
            <a:ext cx="8715375" cy="444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Oswald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357188" y="1136638"/>
            <a:ext cx="8429625" cy="2901981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3" y="1336663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650081" y="1308088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Adam, Zitian, and Zhiyong Yang. 2025.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Breaking the Mold: How Visual Atypicality Shapes Brand-Generated Image Virality.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International Journal of Research in Marketing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Advance online publication.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0594" y="1336663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4"/>
          <p:cNvSpPr/>
          <p:nvPr/>
        </p:nvSpPr>
        <p:spPr>
          <a:xfrm>
            <a:off x="4843463" y="1308088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Baravkar, A., R. Jaiswal, J. Chhoriya, and B. Tekwani. 2021.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Sentimental Analysis of YouTube Videos.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International Journal of Scientific Research in Computer Science, Engineering and Information Technology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213" y="1868481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4"/>
          <p:cNvSpPr/>
          <p:nvPr/>
        </p:nvSpPr>
        <p:spPr>
          <a:xfrm>
            <a:off x="650081" y="1839906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Endait, Ojaswi, et al. 2025.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YouTube Trending Video Analysis Using NLP and Machine Learning.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In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2025 International Conference on Sustainability, Innovation &amp; Technology (ICSIT)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1–5. IEEE.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594" y="1868481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4"/>
          <p:cNvSpPr/>
          <p:nvPr/>
        </p:nvSpPr>
        <p:spPr>
          <a:xfrm>
            <a:off x="4843463" y="1839906"/>
            <a:ext cx="3743325" cy="287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Gaur, Adamya, Sanjay Kumar Singh, and Pranshu Saxena. 2024.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Performance Analysis of Deepfake Text Detection Techniques on Social-Media.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In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ICDCOT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1–6. IEEE.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213" y="2400300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4"/>
          <p:cNvSpPr/>
          <p:nvPr/>
        </p:nvSpPr>
        <p:spPr>
          <a:xfrm>
            <a:off x="650081" y="2371725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Hussain, K., K. Nusair, M. Junaid, and W. Aman. 2024.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 Two-Actor Model for Understanding User Engagement with Content Creators.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Computers in Human Behavior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156: 108237.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0594" y="2400300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4"/>
          <p:cNvSpPr/>
          <p:nvPr/>
        </p:nvSpPr>
        <p:spPr>
          <a:xfrm>
            <a:off x="4843463" y="2371725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Jing, Peiguang, et al. 2018.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Low-Rank Multi-View Embedding Learning for Micro-Video Popularity Prediction.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IEEE Transactions on Knowledge and Data Engineering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30 (8): 1519–1532.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1" name="Google Shape;44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213" y="2932119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4"/>
          <p:cNvSpPr/>
          <p:nvPr/>
        </p:nvSpPr>
        <p:spPr>
          <a:xfrm>
            <a:off x="650081" y="2903544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Koh, Byungwan, and Fuquan Cui. 2022.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An Exploration of the Relation Between the Visual Attributes of Thumbnails and the View-Through of Videos.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Decision Support Systems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160: 113820.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3" name="Google Shape;4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0594" y="2932119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4"/>
          <p:cNvSpPr/>
          <p:nvPr/>
        </p:nvSpPr>
        <p:spPr>
          <a:xfrm>
            <a:off x="4843463" y="2903544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Konukoğlu, L., and M. F. Özman. 2025.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Video Duration and Engagement in Mathematics Instruction on YouTube.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International Journal of Curriculum and Instruction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17 (3): 689–711.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7213" y="3463937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/>
          <p:nvPr/>
        </p:nvSpPr>
        <p:spPr>
          <a:xfrm>
            <a:off x="650081" y="3435362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Peng, Shikang, and Wilma A. Bainbridge. 2026.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Image Memorability Predicts Social Media Virality and Externally-Associated Commenting.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b="0" i="1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Computers in Human Behavior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174: 108799.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7" name="Google Shape;44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0594" y="3463937"/>
            <a:ext cx="35719" cy="71438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4"/>
          <p:cNvSpPr/>
          <p:nvPr/>
        </p:nvSpPr>
        <p:spPr>
          <a:xfrm>
            <a:off x="4843463" y="3435362"/>
            <a:ext cx="3743325" cy="431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2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CyberEvil545. 2025. "</a:t>
            </a:r>
            <a:r>
              <a:rPr b="1" i="0" lang="en-US" sz="634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YouTube Videos Data for ML and Trend Analysis.</a:t>
            </a:r>
            <a:r>
              <a:rPr b="0" i="0" lang="en-US" sz="674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 Kaggle. https://www.kaggle.com/datasets/cyberevil545/youtube-videos-data-for-ml-and-trend-analysis.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357188" y="4533919"/>
            <a:ext cx="8429700" cy="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74"/>
              <a:buFont typeface="Roboto"/>
              <a:buNone/>
            </a:pPr>
            <a:r>
              <a:rPr b="0" i="0" lang="en-US" sz="674" u="none" cap="none" strike="noStrike">
                <a:solidFill>
                  <a:srgbClr val="AAAAAA"/>
                </a:solidFill>
                <a:latin typeface="Roboto"/>
                <a:ea typeface="Roboto"/>
                <a:cs typeface="Roboto"/>
                <a:sym typeface="Roboto"/>
              </a:rPr>
              <a:t>ALL REFERENCES FORMATTED IN CHICAGO AUTHOR-DATE STYLE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2026-03-08T05:08:41Z</dcterms:created>
  <dc:creator>PptxGenJS</dc:creator>
</cp:coreProperties>
</file>